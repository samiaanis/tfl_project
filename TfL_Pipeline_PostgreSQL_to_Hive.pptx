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I'll Cover — PostgreSQL to HDFS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Starting point: data is already loaded and validated in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" cy="914400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1430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What's Already in PostgreSQL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270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Star schema — 6 tables, 5,812 validated records ready to 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114300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548640" cy="9144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31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488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Step 1 — Sqoop: PostgreSQL to HDFS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5328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Bulk JDBC transfer to the Hadoop distributed file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63240"/>
            <a:ext cx="114300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063240"/>
            <a:ext cx="548640" cy="9144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546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HDFS Landing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3872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How the raw data is stored on the cluster after Sqoop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11430000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69080"/>
            <a:ext cx="548640" cy="91440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343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1605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2E"/>
                </a:solidFill>
              </a:rPr>
              <a:t>Key Design Decisions &amp;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445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66"/>
                </a:solidFill>
              </a:rPr>
              <a:t>Why each tool was chosen, and what was successfully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961888"/>
            <a:ext cx="7772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5989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52728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25880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39112" y="5961888"/>
            <a:ext cx="97840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2264" y="5989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5961888"/>
            <a:ext cx="107899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59893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TEXTFILE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5961888"/>
            <a:ext cx="117957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989320"/>
            <a:ext cx="1088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MapReduce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Pipeline Architecture — My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PostgreSQL is the starting point — this slide shows what I 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48840" cy="1554480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PostgreSQL
Source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AA"/>
                </a:solidFill>
              </a:rPr>
              <a:t>testdb
13.42.152.118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1737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19A8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188720"/>
            <a:ext cx="2148840" cy="155448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25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Apache
Sqoop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AA"/>
                </a:solidFill>
              </a:rPr>
              <a:t>JDBC import
to HDFS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4336" y="1737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19A8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188720"/>
            <a:ext cx="2148840" cy="155448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325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HDFS
Raw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116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AA"/>
                </a:solidFill>
              </a:rPr>
              <a:t>/tmp/tfl_project
_hadoop/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1737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19A8"/>
                </a:solidFill>
              </a:rPr>
              <a:t>-&gt;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188720"/>
            <a:ext cx="2148840" cy="1554480"/>
          </a:xfrm>
          <a:prstGeom prst="rect">
            <a:avLst/>
          </a:prstGeom>
          <a:solidFill>
            <a:srgbClr val="88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325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Hive
tfl_db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20116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AA"/>
                </a:solidFill>
              </a:rPr>
              <a:t>External
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6" y="17373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19A8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1188720"/>
            <a:ext cx="2148840" cy="1554480"/>
          </a:xfrm>
          <a:prstGeom prst="rect">
            <a:avLst/>
          </a:prstGeom>
          <a:solidFill>
            <a:srgbClr val="44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13258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500" b="1">
                <a:solidFill>
                  <a:srgbClr val="FFFFFF"/>
                </a:solidFill>
              </a:rPr>
              <a:t>Spark /
Curated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01168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>
                <a:solidFill>
                  <a:srgbClr val="FFFFAA"/>
                </a:solidFill>
              </a:rPr>
              <a:t>Teammates'
section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52928"/>
            <a:ext cx="7543800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29443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YOUR SECTION  (Slides 4 - 13)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731520"/>
            <a:ext cx="2148840" cy="38404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768096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Data already loaded 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017520"/>
            <a:ext cx="11430000" cy="384048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05409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HDFS Directory Layout (after Sqoop)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93008"/>
            <a:ext cx="11247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/tmp/tfl_project_hadoop/dim_networks_full_load/       part-m-00000  (1 row)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/tmp/tfl_project_hadoop/dim_lines_full_load/          part-m-00000  (14 rows)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/tmp/tfl_project_hadoop/dim_stations_full_load/       part-m-00000  (436 rows)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/tmp/tfl_project_hadoop/fact_passenger_entry_exit_full_load/  part-m-00000  (4,771 rows)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961888"/>
            <a:ext cx="7772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989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52728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25880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39112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12264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25496" y="5961888"/>
            <a:ext cx="97840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98648" y="5989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beeline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13632" y="5961888"/>
            <a:ext cx="117957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86784" y="5989320"/>
            <a:ext cx="1088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MapReduce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Starting Point — What's Already in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13.42.152.118:5432 / testdb  |  Star schema  |  5,812 validated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11430000" cy="384048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4241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6 Tables — Dimension + Fact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840480" cy="34747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508760"/>
            <a:ext cx="1005840" cy="34747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1508760"/>
            <a:ext cx="6492240" cy="34747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453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Table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5453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54533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74519"/>
            <a:ext cx="384048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74519"/>
            <a:ext cx="10058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1874519"/>
            <a:ext cx="64922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874519"/>
            <a:ext cx="54864" cy="66751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0573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499"/>
                </a:solidFill>
              </a:rPr>
              <a:t>dim_date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0573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05739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Annual time periods 2007 - 2021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42031"/>
            <a:ext cx="384048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542031"/>
            <a:ext cx="10058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2542031"/>
            <a:ext cx="64922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2542031"/>
            <a:ext cx="54864" cy="66751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2491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499"/>
                </a:solidFill>
              </a:rPr>
              <a:t>dim_lines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724911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2724911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Tube/rail lines with official colours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209543"/>
            <a:ext cx="384048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209543"/>
            <a:ext cx="10058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03520" y="3209543"/>
            <a:ext cx="64922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209543"/>
            <a:ext cx="54864" cy="66751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3392423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499"/>
                </a:solidFill>
              </a:rPr>
              <a:t>dim_networks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392423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392423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Network type (Underground / Rail)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877055"/>
            <a:ext cx="384048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60" y="3877055"/>
            <a:ext cx="10058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03520" y="3877055"/>
            <a:ext cx="64922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877055"/>
            <a:ext cx="54864" cy="66751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059935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4499"/>
                </a:solidFill>
              </a:rPr>
              <a:t>dim_stations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05993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436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4960" y="4059935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Station master — Night Tube, DLR, Overground flags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44567"/>
            <a:ext cx="384048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60" y="4544567"/>
            <a:ext cx="10058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03520" y="4544567"/>
            <a:ext cx="6492240" cy="66751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544567"/>
            <a:ext cx="54864" cy="667512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727447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41F"/>
                </a:solidFill>
              </a:rPr>
              <a:t>fact_station_lines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0" y="4727447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575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4727447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Bridge — many-to-many station to line mapping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212079"/>
            <a:ext cx="384048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51960" y="5212079"/>
            <a:ext cx="10058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03520" y="5212079"/>
            <a:ext cx="6492240" cy="66751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212079"/>
            <a:ext cx="54864" cy="667512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41F"/>
                </a:solidFill>
              </a:rPr>
              <a:t>fact_passenger_entry_exit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51960" y="53949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4,771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94960" y="5394959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Core fact — annual entry/exit counts per station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0350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88"/>
                </a:solidFill>
              </a:rPr>
              <a:t>Blue = Dimension table    Red = Fact table    All FK constraints enforced at DB level    10 indexes    4 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PostgreSQL — Star Schema We Are Moving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2 fact tables  |  4 dimension tables  |  FK-enforced  |  5,812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078992"/>
            <a:ext cx="3520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4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3520440" cy="338328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133856"/>
            <a:ext cx="337413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dim_stations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435608"/>
            <a:ext cx="352044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" y="1472184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" y="1472184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472184"/>
            <a:ext cx="1689811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station_id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6477" y="1481328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77924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714500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nlc_code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46477" y="1723644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920240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1956816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station_name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6477" y="1965960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162556"/>
            <a:ext cx="3520440" cy="242316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" y="2199132"/>
            <a:ext cx="219456" cy="1691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" y="2199132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2199132"/>
            <a:ext cx="1689811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5B00"/>
                </a:solidFill>
              </a:rPr>
              <a:t>network_id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6477" y="2208276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5B00"/>
                </a:solidFill>
              </a:rPr>
              <a:t>-&gt; dim_networks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441448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has_night_tube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6477" y="2450592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BOOL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647188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683764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is_active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6477" y="2692908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15968" y="1078992"/>
            <a:ext cx="3429000" cy="2071116"/>
          </a:xfrm>
          <a:prstGeom prst="rect">
            <a:avLst/>
          </a:prstGeom>
          <a:solidFill>
            <a:srgbClr val="FFFFFF"/>
          </a:solidFill>
          <a:ln w="6350">
            <a:solidFill>
              <a:srgbClr val="DC2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15968" y="1078992"/>
            <a:ext cx="3429000" cy="338328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1133856"/>
            <a:ext cx="32826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fact_passenger_entry_exit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1435608"/>
            <a:ext cx="342900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0832" y="1472184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1472184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26864" y="1472184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entry_exit_id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6238" y="1481328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1677924"/>
            <a:ext cx="3429000" cy="242316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70832" y="1714500"/>
            <a:ext cx="219456" cy="1691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1714500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26864" y="1714500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5B00"/>
                </a:solidFill>
              </a:rPr>
              <a:t>station_id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6238" y="1723644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5B00"/>
                </a:solidFill>
              </a:rPr>
              <a:t>-&gt; dim_stations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1920240"/>
            <a:ext cx="3429000" cy="242316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70832" y="1956816"/>
            <a:ext cx="219456" cy="1691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70832" y="1956816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6864" y="1956816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5B00"/>
                </a:solidFill>
              </a:rPr>
              <a:t>date_id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6238" y="1965960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5B00"/>
                </a:solidFill>
              </a:rPr>
              <a:t>-&gt; dim_date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15968" y="2162556"/>
            <a:ext cx="342900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07408" y="2199132"/>
            <a:ext cx="205740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total_entry_exit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6238" y="2208276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BIGINT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5968" y="2404872"/>
            <a:ext cx="342900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07408" y="2441448"/>
            <a:ext cx="205740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estimated_entries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6238" y="2450592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BIGINT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15968" y="2647188"/>
            <a:ext cx="342900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2683764"/>
            <a:ext cx="205740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estimated_exits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6238" y="2692908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BIGINT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15968" y="2889504"/>
            <a:ext cx="342900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07408" y="2926080"/>
            <a:ext cx="205740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record_type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6238" y="2935224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1078992"/>
            <a:ext cx="3520440" cy="1586484"/>
          </a:xfrm>
          <a:prstGeom prst="rect">
            <a:avLst/>
          </a:prstGeom>
          <a:solidFill>
            <a:srgbClr val="FFFFFF"/>
          </a:solidFill>
          <a:ln w="6350">
            <a:solidFill>
              <a:srgbClr val="004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321040" y="1078992"/>
            <a:ext cx="3520440" cy="338328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94192" y="1133856"/>
            <a:ext cx="337413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dim_date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1435608"/>
            <a:ext cx="352044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75904" y="1472184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75904" y="1472184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31936" y="1472184"/>
            <a:ext cx="1689811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date_id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38917" y="1481328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21040" y="1677924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1714500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year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38917" y="1723644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1920240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1956816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quarter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38917" y="1965960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321040" y="2162556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412480" y="2199132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period_label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38917" y="2208276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21040" y="2404872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2441448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period_start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38917" y="2450592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DATE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3561588"/>
            <a:ext cx="3520440" cy="1101852"/>
          </a:xfrm>
          <a:prstGeom prst="rect">
            <a:avLst/>
          </a:prstGeom>
          <a:solidFill>
            <a:srgbClr val="FFFFFF"/>
          </a:solidFill>
          <a:ln w="6350">
            <a:solidFill>
              <a:srgbClr val="004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8600" y="3561588"/>
            <a:ext cx="3520440" cy="338328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1752" y="3616452"/>
            <a:ext cx="337413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dim_networks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28600" y="3918204"/>
            <a:ext cx="352044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83464" y="3954780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3464" y="3954780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9496" y="3954780"/>
            <a:ext cx="1689811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network_id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446477" y="3963924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160520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197096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network_name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446477" y="4206240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4402836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20040" y="4439412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network_type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446477" y="4448556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15968" y="3561588"/>
            <a:ext cx="342900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DC2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15968" y="3561588"/>
            <a:ext cx="3429000" cy="338328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89120" y="3616452"/>
            <a:ext cx="328269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fact_station_lines  (bridge)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15968" y="3918204"/>
            <a:ext cx="342900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70832" y="3954780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70832" y="3954780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26864" y="3954780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station_line_id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476238" y="3963924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315968" y="4160520"/>
            <a:ext cx="3429000" cy="242316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370832" y="4197096"/>
            <a:ext cx="219456" cy="1691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370832" y="4197096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26864" y="4197096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5B00"/>
                </a:solidFill>
              </a:rPr>
              <a:t>station_id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476238" y="4206240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5B00"/>
                </a:solidFill>
              </a:rPr>
              <a:t>-&gt; dim_stations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315968" y="4402836"/>
            <a:ext cx="3429000" cy="242316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70832" y="4439412"/>
            <a:ext cx="219456" cy="1691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370832" y="4439412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26864" y="4439412"/>
            <a:ext cx="164592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A5B00"/>
                </a:solidFill>
              </a:rPr>
              <a:t>line_id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76238" y="4448556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5B00"/>
                </a:solidFill>
              </a:rPr>
              <a:t>-&gt; dim_lines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315968" y="4645152"/>
            <a:ext cx="342900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407408" y="4681728"/>
            <a:ext cx="2057400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is_interchange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76238" y="4690872"/>
            <a:ext cx="1165860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BOOL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321040" y="3561588"/>
            <a:ext cx="3520440" cy="1344168"/>
          </a:xfrm>
          <a:prstGeom prst="rect">
            <a:avLst/>
          </a:prstGeom>
          <a:solidFill>
            <a:srgbClr val="FFFFFF"/>
          </a:solidFill>
          <a:ln w="6350">
            <a:solidFill>
              <a:srgbClr val="004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321040" y="3561588"/>
            <a:ext cx="3520440" cy="338328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394192" y="3616452"/>
            <a:ext cx="3374136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dim_lines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321040" y="3918204"/>
            <a:ext cx="3520440" cy="242316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375904" y="3954780"/>
            <a:ext cx="219456" cy="169164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75904" y="3954780"/>
            <a:ext cx="219456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31936" y="3954780"/>
            <a:ext cx="1689811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5C2C"/>
                </a:solidFill>
              </a:rPr>
              <a:t>line_id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38917" y="3963924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INT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321040" y="4160520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12480" y="4197096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line_name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538917" y="4206240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321040" y="4402836"/>
            <a:ext cx="3520440" cy="242316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412480" y="4439412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line_color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538917" y="4448556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VARCHAR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21040" y="4645152"/>
            <a:ext cx="3520440" cy="2423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412480" y="4681728"/>
            <a:ext cx="2112264" cy="18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is_night_service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538917" y="4690872"/>
            <a:ext cx="1196949" cy="169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</a:rPr>
              <a:t>BOOL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749040" y="1666952"/>
            <a:ext cx="566928" cy="219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7744968" y="1788110"/>
            <a:ext cx="576072" cy="219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223468" y="2907792"/>
            <a:ext cx="21945" cy="65379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744968" y="4270706"/>
            <a:ext cx="576072" cy="219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103828" y="2907792"/>
            <a:ext cx="21945" cy="13738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114800" y="4270706"/>
            <a:ext cx="201168" cy="219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20040" y="6464808"/>
            <a:ext cx="201168" cy="18288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66928" y="64648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PK  Primary Key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651760" y="6464808"/>
            <a:ext cx="201168" cy="18288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898648" y="64648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FK  Foreign Key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983480" y="6464808"/>
            <a:ext cx="201168" cy="182880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230368" y="64648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Fact Table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315200" y="6464808"/>
            <a:ext cx="201168" cy="18288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562088" y="64648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Dimension Table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646920" y="6464808"/>
            <a:ext cx="201168" cy="1828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893808" y="646480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— FK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Step 1 — PostgreSQL to HDFS via Apache Sqoop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Script: src/raw_layer/full_load/raw_sqoop_full_load.sh  |  Triggered by Jenkins per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212080" cy="4983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21208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How Sqoop works here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99616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Jenkins-driven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Jenkins calls the script once per table, passing table name and HDFS target path as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67712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311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Source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05456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Reads from aparna.&lt;table&gt;_full_load (schema + _full_load suffix) using --query flag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35808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99923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--query flag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735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SELECT * FROM aparna.dim_stations_full_load WHERE $CONDITIONS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03904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673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--delete-target-dir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Clears existing HDFS directory before writing — safe full refresh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3542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--num-mappers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974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Single mapper = one clean output file per table, no fragmentation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40096"/>
            <a:ext cx="45720" cy="5486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035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Control 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After each run: updates aparna.sqoop_control with row count, MAX PK, status=SUCCESS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051560"/>
            <a:ext cx="612648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1051560"/>
            <a:ext cx="612648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0789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raw_sqoop_full_load.sh  (actual Sqoop command)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463040"/>
            <a:ext cx="5943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# Called by Jenkins:  $0 &lt;table&gt; &lt;hdfs_dir&gt;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REAL_TABLE=$1   TARGET_DIR=$2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sqoop import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-Dmapreduce.framework.name=local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--connect jdbc:postgresql://13.42.152.118:5432/testdb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--username admin  --password admin123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--query "SELECT * FROM aparna.${FULL_LOAD_TABLE}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         WHERE \$CONDITIONS"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--target-dir ${TARGET_DIR}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--delete-target-dir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--fields-terminated-by ','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--null-string '\\N' \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--num-mappers 1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# Then updates sqoop_control: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#  last_value, last_row_count,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#  last_run_time, status=SUCCESS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961888"/>
            <a:ext cx="148132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59893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Apache Sqoop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56816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8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JDBC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5961888"/>
            <a:ext cx="97840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5989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31336" y="5961888"/>
            <a:ext cx="2185415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04488" y="5989320"/>
            <a:ext cx="2093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--delete-target-dir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79" y="5961888"/>
            <a:ext cx="158191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9631" y="598932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sqoop_control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HDFS Landing Zone — After Sqoop Completes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6 subdirectories  |  one CSV file per table  |  /tmp/tfl_project_hadoop/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486400" cy="4983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0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HDFS directory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/tmp/tfl_project_hadoop/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dim_networks_full_load/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     part-m-00000    (1 row)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dim_lines_full_load/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     part-m-00000    (14 rows)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dim_date_full_load/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     part-m-00000    (15 rows)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dim_stations_full_load/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     part-m-00000    (436 rows)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fact_station_lines_full_load/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     part-m-00000    (575 rows)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|-- fact_passenger_entry_exit_full_load/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ADE5FF"/>
                </a:solidFill>
              </a:rPr>
              <a:t>        part-m-00000    (4,771 rows)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051560"/>
            <a:ext cx="5943600" cy="22402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051560"/>
            <a:ext cx="594360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7899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Storage facts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463040"/>
            <a:ext cx="56692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Format      CSV (comma-delimited TEXTFILE)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Header row  preserved in each file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Mappers     1 per table  (-m 1 flag)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Files       6 total — one per table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1A1A2E"/>
                </a:solidFill>
              </a:rPr>
              <a:t>Total rows  5,812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429000"/>
            <a:ext cx="5943600" cy="26060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3429000"/>
            <a:ext cx="594360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4564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HDFS?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8404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Distributed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08736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Data split across nodes — Hive and Spark
read it in parallel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5720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Fault tolerant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81888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3x block replication — no data loss on
node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3035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55CC"/>
                </a:solidFill>
              </a:rPr>
              <a:t>Tool-agnostic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55040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Hive, Spark, and Presto all read the same
files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2144" y="5961888"/>
            <a:ext cx="107899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5296" y="59893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TEXTFILE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40864" y="5961888"/>
            <a:ext cx="148132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14016" y="5989320"/>
            <a:ext cx="13898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part-m-00000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5961888"/>
            <a:ext cx="168249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05072" y="5989320"/>
            <a:ext cx="15910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3x replication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Why each tool and pattern was chosen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12618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91440" cy="1261872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1430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5CC"/>
                </a:solidFill>
              </a:rPr>
              <a:t>Why Sqoop instead of a custom Python/Spark script?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9047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Sqoop is purpose-built for RDBMS-to-HDFS bulk transfer. It handles JDBC type mapping automatically, uses MapReduce for parallelism, and integrates natively with the Hadoop cluster — no custom connector code needed.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04872"/>
            <a:ext cx="11430000" cy="12618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404872"/>
            <a:ext cx="91440" cy="1261872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963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844"/>
                </a:solidFill>
              </a:rPr>
              <a:t>Why TEXTFILE (CSV) format — not Parquet?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43784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The raw layer must be an exact, unmodified copy of the source. TEXTFILE is human-readable and auditable directly on HDFS. Conversion to Parquet happens in the curated layer after quality checks are applied — clean separation of concerns.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58184"/>
            <a:ext cx="11430000" cy="12618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58184"/>
            <a:ext cx="91440" cy="1261872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4962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499"/>
                </a:solidFill>
              </a:rPr>
              <a:t>Why --delete-target-dir on every run?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97096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Ensures every full load is a clean, idempotent refresh. No stale data from a previous run can mix with the new data. If the job fails mid-way, the next run starts fresh — no manual cleanup needed.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11496"/>
            <a:ext cx="11430000" cy="126187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111496"/>
            <a:ext cx="91440" cy="1261872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0293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41F"/>
                </a:solidFill>
              </a:rPr>
              <a:t>Why --num-mappers 1 (single mapper)?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5040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Multiple mappers write multiple part files per table. A single mapper produces one clean file per table, which is simpler to inspect, audit, and work with during debugging and verification.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961888"/>
            <a:ext cx="7772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989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52728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JDBC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39112" y="5961888"/>
            <a:ext cx="107899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12264" y="59893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TEXTFILE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5961888"/>
            <a:ext cx="2185415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0984" y="5989320"/>
            <a:ext cx="2093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--delete-target-dir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2975" y="5961888"/>
            <a:ext cx="178308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96127" y="59893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--num-mappers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What Was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End-to-end verified: PostgreSQL -&gt; HDFS via Sqoop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1945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1945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19A8"/>
                </a:solidFill>
              </a:rPr>
              <a:t>5,812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Records moved
PostgreSQL to HDFS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051560"/>
            <a:ext cx="21945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051560"/>
            <a:ext cx="21945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19A8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Tables landed
in HDFS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051560"/>
            <a:ext cx="21945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051560"/>
            <a:ext cx="21945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417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19A8"/>
                </a:solidFill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Years of data
2007 - 2021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051560"/>
            <a:ext cx="21945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0" y="1051560"/>
            <a:ext cx="21945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417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19A8"/>
                </a:solidFill>
              </a:rPr>
              <a:t>436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London stations
fully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1051560"/>
            <a:ext cx="219456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0" y="1051560"/>
            <a:ext cx="21945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4173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19A8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19659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Orphaned FK
records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5394960" cy="32461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788920"/>
            <a:ext cx="53949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163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Validation checklist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21868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21868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Sqoop imports completed for all 6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6616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6616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5,812 records landed in HDFS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91363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91363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One clean file per table (part-m-00000)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26110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2611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sqoop_control updated with SUCCESS 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08576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608576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HDFS directory listing verified after each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956048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95604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Zero orphaned FK records in source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0352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0352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Jenkins pipeline executed end-to-end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650992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844"/>
                </a:solidFill>
              </a:rPr>
              <a:t>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5099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All 6 _full_load tables transferred correctly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2788920"/>
            <a:ext cx="6035040" cy="3246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2788920"/>
            <a:ext cx="60350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8163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Sample Hive query on tfl_db (top 5 stations 2019)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200400"/>
            <a:ext cx="5806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SELECT s.station_name,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       SUM(f.total_entry_exit) AS pax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FROM   fact_passenger_entry_exit f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JOIN   dim_stations s USING (station_id)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JOIN   dim_date d     USING (date_id)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WHERE  d.year = 2019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GROUP  BY s.station_name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ORDER  BY pax DESC LIMIT 5;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1. King's Cross St. Pancras  99,408,000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2. Waterloo                  94,196,000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3. Victoria                  82,564,000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4. London Bridge             72,119,000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ADE5FF"/>
                </a:solidFill>
              </a:rPr>
              <a:t>5. Liverpool Street          66,972,000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961888"/>
            <a:ext cx="7772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5989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52728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39112" y="5961888"/>
            <a:ext cx="97840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12264" y="5989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27248" y="5961888"/>
            <a:ext cx="158191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598932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sqoop_control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18888" y="5961888"/>
            <a:ext cx="107899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92040" y="59893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TEXTFILE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1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Summary — PostgreSQL to HDFS Raw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8F0FE"/>
                </a:solidFill>
              </a:rPr>
              <a:t>What my section delivers to the team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88136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What I Delivered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114300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572768"/>
            <a:ext cx="91440" cy="100584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459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55CC"/>
                </a:solidFill>
              </a:rPr>
              <a:t>Starting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2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PostgreSQL testdb already holds 6 validated tables — 5,812 FK-clean records in a star schema. This is the source of truth for the entire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88336"/>
            <a:ext cx="114300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88336"/>
            <a:ext cx="91440" cy="1005840"/>
          </a:xfrm>
          <a:prstGeom prst="rect">
            <a:avLst/>
          </a:prstGeom>
          <a:solidFill>
            <a:srgbClr val="00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614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844"/>
                </a:solidFill>
              </a:rPr>
              <a:t>Step 1 — Sqoop Transfer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761488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Jenkins triggers raw_sqoop_full_load.sh once per table. Sqoop reads from aparna.&lt;table&gt;_full_load via JDBC and writes clean TEXTFILE data to /tmp/tfl_project_hadoop/ on HDFS.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03904"/>
            <a:ext cx="114300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803904"/>
            <a:ext cx="91440" cy="1005840"/>
          </a:xfrm>
          <a:prstGeom prst="rect">
            <a:avLst/>
          </a:prstGeom>
          <a:solidFill>
            <a:srgbClr val="004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770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4499"/>
                </a:solidFill>
              </a:rPr>
              <a:t>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877056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After each table load, the script queries PostgreSQL to get row count and MAX PK, then updates aparna.sqoop_control with status=SUCCESS. Full traceability per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19472"/>
            <a:ext cx="11430000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19472"/>
            <a:ext cx="91440" cy="1005840"/>
          </a:xfrm>
          <a:prstGeom prst="rect">
            <a:avLst/>
          </a:prstGeom>
          <a:solidFill>
            <a:srgbClr val="DC2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9926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41F"/>
                </a:solidFill>
              </a:rPr>
              <a:t>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92624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 clean CSV datasets sitting in HDFS under /tmp/tfl_project_hadoop/ — ready for the curated layer (teammates' section) to consume via Spark and transform into Gold Parquet tables.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961888"/>
            <a:ext cx="128016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5989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55648" y="5961888"/>
            <a:ext cx="777240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9893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42616" y="5961888"/>
            <a:ext cx="676656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15768" y="5989320"/>
            <a:ext cx="585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HDFS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5961888"/>
            <a:ext cx="978408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02152" y="5989320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Jenkins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5961888"/>
            <a:ext cx="158191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5989320"/>
            <a:ext cx="1490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sqoop_control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8776" y="5961888"/>
            <a:ext cx="1078992" cy="329184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5989320"/>
            <a:ext cx="987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TEXTFILE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